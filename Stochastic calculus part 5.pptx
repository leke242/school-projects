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796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Provide a rigorous numerical implementation of Black–Scholes and analyze empirical deviations.</a:t>
            </a:r>
          </a:p>
          <a:p>
            <a:endParaRPr/>
          </a:p>
          <a:p>
            <a:r>
              <a:t>We first compute d₁ and d₂ carefully.</a:t>
            </a:r>
          </a:p>
          <a:p>
            <a:r>
              <a:t>Then we compute the theoretical price.</a:t>
            </a:r>
          </a:p>
          <a:p>
            <a:r>
              <a:t>Finally, we analyze structural reasons why market prices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Black–Scholes formula gives the no-arbitrage value of a European call.</a:t>
            </a:r>
          </a:p>
          <a:p>
            <a:endParaRPr/>
          </a:p>
          <a:p>
            <a:r>
              <a:t>It is derived under risk-neutral valuation and the assumption that stock prices follow geometric Brownian motion.</a:t>
            </a:r>
          </a:p>
          <a:p>
            <a:endParaRPr/>
          </a:p>
          <a:p>
            <a:r>
              <a:t>We now compute each component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compute numerator and denominator separately.</a:t>
            </a:r>
          </a:p>
          <a:p>
            <a:endParaRPr/>
          </a:p>
          <a:p>
            <a:r>
              <a:t>Numerator = ln(S₀/X) + (r + ½σ²)T.</a:t>
            </a:r>
          </a:p>
          <a:p>
            <a:r>
              <a:t>Denominator = σ√T = 0.23√0.5 ≈ 0.1626.</a:t>
            </a:r>
          </a:p>
          <a:p>
            <a:endParaRPr/>
          </a:p>
          <a:p>
            <a:r>
              <a:t>Thus d₁ ≈ 1.0515.</a:t>
            </a:r>
          </a:p>
          <a:p>
            <a:endParaRPr/>
          </a:p>
          <a:p>
            <a:r>
              <a:t>Economically, d₁ measures standardized distance from strike including volatility adjustment.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d₂ removes the volatility dispersion term.</a:t>
            </a:r>
          </a:p>
          <a:p>
            <a:endParaRPr/>
          </a:p>
          <a:p>
            <a:r>
              <a:t>Interpretation:</a:t>
            </a:r>
          </a:p>
          <a:p>
            <a:r>
              <a:t>Under the risk-neutral measure, N(d₂) approximates the probability that S_T &gt; X.</a:t>
            </a:r>
          </a:p>
          <a:p>
            <a:endParaRPr/>
          </a:p>
          <a:p>
            <a:r>
              <a:t>Thus d₂ captures exercise likelihood under risk-neutral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Using the standard normal cumulative distribution function:</a:t>
            </a:r>
          </a:p>
          <a:p>
            <a:endParaRPr/>
          </a:p>
          <a:p>
            <a:r>
              <a:t>N(d) = ∫_{−∞}^{d} (1/√(2π)) e^{−x²/2} dx.</a:t>
            </a:r>
          </a:p>
          <a:p>
            <a:endParaRPr/>
          </a:p>
          <a:p>
            <a:r>
              <a:t>These probabilities weight expected stock and strike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theoretical Black–Scholes value is approximately 14.33.</a:t>
            </a:r>
          </a:p>
          <a:p>
            <a:endParaRPr/>
          </a:p>
          <a:p>
            <a:r>
              <a:t>Intrinsic value = 90 − 80 = 10.</a:t>
            </a:r>
          </a:p>
          <a:p>
            <a:r>
              <a:t>Time value = 14.33 − 10 = 4.33.</a:t>
            </a:r>
          </a:p>
          <a:p>
            <a:endParaRPr/>
          </a:p>
          <a:p>
            <a:r>
              <a:t>The excess over intrinsic value reflects volatility and time to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Empirical tests show that market prices of options tend to exceed Black–Scholes predictions.</a:t>
            </a:r>
          </a:p>
          <a:p>
            <a:endParaRPr/>
          </a:p>
          <a:p>
            <a:r>
              <a:t>This indicates model assumptions do not fully capture market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Volatility clusters over time and rises during market stress.</a:t>
            </a:r>
          </a:p>
          <a:p>
            <a:endParaRPr/>
          </a:p>
          <a:p>
            <a:r>
              <a:t>Since option price is increasing in σ (∂C/∂σ &gt; 0),</a:t>
            </a:r>
          </a:p>
          <a:p>
            <a:r>
              <a:t>underestimating volatility leads to underpricing.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Market data shows different strikes imply different volatilities.</a:t>
            </a:r>
          </a:p>
          <a:p>
            <a:endParaRPr/>
          </a:p>
          <a:p>
            <a:r>
              <a:t>Deep ITM and OTM options exhibit higher implied volatilities.</a:t>
            </a:r>
          </a:p>
          <a:p>
            <a:r>
              <a:t>This produces the volatility smile, inconsistent with Black–Scholes.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Dividends reduce expected future stock price.</a:t>
            </a:r>
          </a:p>
          <a:p>
            <a:endParaRPr/>
          </a:p>
          <a:p>
            <a:r>
              <a:t>Ignoring dividends overstates expected S_T,</a:t>
            </a:r>
          </a:p>
          <a:p>
            <a:r>
              <a:t>leading to mispricing unless adjustment is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Brownian motion excludes sudden jumps.</a:t>
            </a:r>
          </a:p>
          <a:p>
            <a:endParaRPr/>
          </a:p>
          <a:p>
            <a:r>
              <a:t>Crash risk increases option value, particularly for OTM options.</a:t>
            </a:r>
          </a:p>
          <a:p>
            <a:r>
              <a:t>Jump-diffusion models address this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Black–Scholes assumes perfect hedging.</a:t>
            </a:r>
          </a:p>
          <a:p>
            <a:endParaRPr/>
          </a:p>
          <a:p>
            <a:r>
              <a:t>In reality, discrete trading and model risk prevent perfect replication.</a:t>
            </a:r>
          </a:p>
          <a:p>
            <a:r>
              <a:t>Investors price in additional risk premiums.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Study &amp; Empirical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Black–Scholes European Call Pricing</a:t>
            </a:r>
          </a:p>
          <a:p>
            <a:r>
              <a:rPr dirty="0"/>
              <a:t>S₀ = 90, X = 80, r = 0.08, σ = 0.23, T = 0.5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Black–Scholes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C₀ = S₀N(d₁) − Xe^(−rT)N(d₂)</a:t>
            </a:r>
          </a:p>
          <a:p>
            <a:r>
              <a:t>d₁ = [ln(S₀/X) + (r + ½σ²)T] / (σ√T)</a:t>
            </a:r>
          </a:p>
          <a:p>
            <a:r>
              <a:t>d₂ = d₁ − σ√T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Compute d₁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ln(90/80) = ln(1.125) ≈ 0.1173</a:t>
            </a:r>
          </a:p>
          <a:p>
            <a:r>
              <a:t>σ² = 0.23² = 0.0529</a:t>
            </a:r>
          </a:p>
          <a:p>
            <a:r>
              <a:t>½σ² = 0.02645</a:t>
            </a:r>
          </a:p>
          <a:p>
            <a:r>
              <a:t>(r + ½σ²)T = (0.08 + 0.02645)(0.5) = 0.053225</a:t>
            </a:r>
          </a:p>
          <a:p>
            <a:r>
              <a:t>d₁ = 0.170525 / 0.1626 ≈ 1.0515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Compute d₂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σ√T = 0.1626</a:t>
            </a:r>
          </a:p>
          <a:p>
            <a:r>
              <a:t>d₂ = 1.0515 − 0.1626 ≈ 0.8889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Normal Distribution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the normal distribution table find:</a:t>
            </a:r>
          </a:p>
          <a:p>
            <a:pPr marL="0" indent="0">
              <a:buNone/>
            </a:pPr>
            <a:r>
              <a:rPr dirty="0"/>
              <a:t>N(1.0515) ≈ 0.8535</a:t>
            </a:r>
          </a:p>
          <a:p>
            <a:pPr marL="0" indent="0">
              <a:buNone/>
            </a:pPr>
            <a:r>
              <a:rPr dirty="0"/>
              <a:t>N(0.8889) ≈ 0.813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  Comput</a:t>
            </a:r>
            <a:r>
              <a:rPr lang="en-US" dirty="0"/>
              <a:t>e the C₀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Discount factor: e^(−0.08×0.5) = e^(−0.04) ≈ 0.9608</a:t>
            </a:r>
          </a:p>
          <a:p>
            <a:pPr marL="0" indent="0">
              <a:buNone/>
            </a:pPr>
            <a:r>
              <a:rPr dirty="0"/>
              <a:t>90 × 0.8535 = 76.815</a:t>
            </a:r>
          </a:p>
          <a:p>
            <a:pPr marL="0" indent="0">
              <a:buNone/>
            </a:pPr>
            <a:r>
              <a:rPr dirty="0"/>
              <a:t>80 × 0.9608 × 0.813 ≈ 62.54</a:t>
            </a:r>
          </a:p>
          <a:p>
            <a:pPr marL="0" indent="0">
              <a:buNone/>
            </a:pPr>
            <a:r>
              <a:rPr dirty="0"/>
              <a:t>C₀ ≈ 76.815 − 62.54 = 14.33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Are Real Market Prices Higher?</a:t>
            </a:r>
            <a:br>
              <a:rPr lang="en-US" dirty="0"/>
            </a:br>
            <a:r>
              <a:rPr dirty="0"/>
              <a:t>Empirical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.Observed Market Price &gt; 14.33</a:t>
            </a:r>
          </a:p>
          <a:p>
            <a:pPr marL="0" indent="0">
              <a:buNone/>
            </a:pPr>
            <a:r>
              <a:rPr lang="en-US" dirty="0"/>
              <a:t>.Black–Scholes often underestimates real option prices.</a:t>
            </a:r>
          </a:p>
          <a:p>
            <a:pPr marL="0" indent="0">
              <a:buNone/>
            </a:pPr>
            <a:r>
              <a:rPr lang="en-US" dirty="0"/>
              <a:t>- Real option prices often exceed Black–Scholes predictions because markets are more complex than the model assumes.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1</a:t>
            </a:r>
            <a:r>
              <a:rPr lang="en-US" dirty="0"/>
              <a:t>. </a:t>
            </a:r>
            <a:r>
              <a:rPr dirty="0"/>
              <a:t>Non-Constant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Model assumes constant σ</a:t>
            </a:r>
          </a:p>
          <a:p>
            <a:pPr marL="0" indent="0">
              <a:buNone/>
            </a:pPr>
            <a:r>
              <a:rPr dirty="0"/>
              <a:t>In reality: σ = σ(t, 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volatility clusters — it increases during crises and decreases during stable periods. Since option prices increase with volatility, underestimating volatility leads to underpricing.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dirty="0"/>
              <a:t>Volatility Smile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volatility smile shows that implied volatility varies across strike prices. Black–Scholes assumes one single volatility for all strikes, which contradicts market data (constant </a:t>
            </a:r>
            <a:r>
              <a:rPr lang="el-GR" dirty="0"/>
              <a:t>σ </a:t>
            </a:r>
            <a:r>
              <a:rPr lang="en-US" dirty="0"/>
              <a:t>assumption).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3</a:t>
            </a:r>
            <a:r>
              <a:rPr lang="en-US" dirty="0"/>
              <a:t>. </a:t>
            </a:r>
            <a:r>
              <a:rPr dirty="0"/>
              <a:t> Dividends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Real stocks pay dividends yield q. Dividends reduce expected future stock price and alter option valuation.</a:t>
            </a:r>
          </a:p>
          <a:p>
            <a:pPr marL="0" indent="0">
              <a:buNone/>
            </a:pPr>
            <a:r>
              <a:rPr dirty="0"/>
              <a:t>Adjusted formula:</a:t>
            </a:r>
          </a:p>
          <a:p>
            <a:pPr marL="0" indent="0">
              <a:buNone/>
            </a:pPr>
            <a:r>
              <a:rPr dirty="0"/>
              <a:t>C₀ = </a:t>
            </a:r>
            <a:r>
              <a:rPr dirty="0" err="1"/>
              <a:t>S₀e</a:t>
            </a:r>
            <a:r>
              <a:rPr dirty="0"/>
              <a:t>^(−</a:t>
            </a:r>
            <a:r>
              <a:rPr dirty="0" err="1"/>
              <a:t>qT</a:t>
            </a:r>
            <a:r>
              <a:rPr dirty="0"/>
              <a:t>)N(d₁) − Xe^(−</a:t>
            </a:r>
            <a:r>
              <a:rPr dirty="0" err="1"/>
              <a:t>rT</a:t>
            </a:r>
            <a:r>
              <a:rPr dirty="0"/>
              <a:t>)N(d₂)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dirty="0"/>
              <a:t> Jump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Black–Scholes assumes continuous paths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markets experience sudden jumps or crashes. Brownian motion assumes continuous paths with no jumps, which underestimates extreme movements.</a:t>
            </a:r>
            <a:endParaRPr dirty="0"/>
          </a:p>
          <a:p>
            <a:pPr marL="0" indent="0">
              <a:buNone/>
            </a:pPr>
            <a:r>
              <a:rPr lang="en-US" dirty="0"/>
              <a:t>-</a:t>
            </a:r>
            <a:r>
              <a:rPr dirty="0"/>
              <a:t>Real markets exhibit discontinuities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dirty="0"/>
              <a:t> Risk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Investors demand compensation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Investors demand compensation for risks not captured by the model. This risk premium pushes market prices above theoretical values.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888</Words>
  <Application>Microsoft Office PowerPoint</Application>
  <PresentationFormat>On-screen Show (4:3)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Case Study &amp; Empirical Analysis</vt:lpstr>
      <vt:lpstr>Black–Scholes Formula</vt:lpstr>
      <vt:lpstr> Compute d₁ </vt:lpstr>
      <vt:lpstr> Compute d₂</vt:lpstr>
      <vt:lpstr> Normal Distribution Values</vt:lpstr>
      <vt:lpstr>  Compute the C₀</vt:lpstr>
      <vt:lpstr>Why Are Real Market Prices Higher? Empirical Observation</vt:lpstr>
      <vt:lpstr> 1. Non-Constant Volatility</vt:lpstr>
      <vt:lpstr>2. Volatility Smile</vt:lpstr>
      <vt:lpstr> 3.  Dividends</vt:lpstr>
      <vt:lpstr>4.  Jump Risk</vt:lpstr>
      <vt:lpstr>5.  Risk Premium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Aleke James</dc:creator>
  <cp:keywords/>
  <dc:description>generated using python-pptx</dc:description>
  <cp:lastModifiedBy>Aleke  James</cp:lastModifiedBy>
  <cp:revision>2</cp:revision>
  <dcterms:created xsi:type="dcterms:W3CDTF">2013-01-27T09:14:16Z</dcterms:created>
  <dcterms:modified xsi:type="dcterms:W3CDTF">2026-02-17T06:59:37Z</dcterms:modified>
  <cp:category/>
</cp:coreProperties>
</file>